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Music Genre Classification on FMA-small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Handcrafted features, mel-spectrogram CNNs, hybrid fusion, and audio-pretrained transfer learning</a:t>
            </a:r>
            <a:br/>
            <a:br/>
            <a:r>
              <a:rPr/>
              <a:t>Selected Topics in Music and Acoustic Engineering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Project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Goal: classify 30-second music tracks into 8 genre labels.</a:t>
            </a:r>
          </a:p>
          <a:p>
            <a:pPr lvl="0"/>
            <a:r>
              <a:rPr/>
              <a:t>Why it matters:</a:t>
            </a:r>
          </a:p>
          <a:p>
            <a:pPr lvl="1"/>
            <a:r>
              <a:rPr/>
              <a:t>automatic music tagging supports search, recommendation, cataloguing, and dataset organization;</a:t>
            </a:r>
          </a:p>
          <a:p>
            <a:pPr lvl="1"/>
            <a:r>
              <a:rPr/>
              <a:t>genre is subjective and acoustically ambiguous, so the task tests both feature design and representation learning.</a:t>
            </a:r>
          </a:p>
          <a:p>
            <a:pPr lvl="0"/>
            <a:r>
              <a:rPr/>
              <a:t>Main objective:</a:t>
            </a:r>
          </a:p>
          <a:p>
            <a:pPr lvl="1"/>
            <a:r>
              <a:rPr/>
              <a:t>build a reproducible genre-classification pipeline;</a:t>
            </a:r>
          </a:p>
          <a:p>
            <a:pPr lvl="1"/>
            <a:r>
              <a:rPr/>
              <a:t>compare handcrafted-feature baselines, from-scratch CNN models, hybrid late fusion, and audio-pretrained transfer learning.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Dataset and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Dataset: FMA-small, 8000 Creative Commons tracks.</a:t>
            </a:r>
          </a:p>
          <a:p>
            <a:pPr lvl="0"/>
            <a:r>
              <a:rPr/>
              <a:t>Classes: Electronic, Experimental, Folk, Hip-Hop, Instrumental, International, Pop, Rock.</a:t>
            </a:r>
          </a:p>
          <a:p>
            <a:pPr lvl="0"/>
            <a:r>
              <a:rPr/>
              <a:t>Track duration used in code: 29 seconds, avoiding edge artifacts near 30 seconds.</a:t>
            </a:r>
          </a:p>
          <a:p>
            <a:pPr lvl="0"/>
            <a:r>
              <a:rPr/>
              <a:t>Balanced evaluation: 1000 tracks per class; held-out test set has 200 tracks per class.</a:t>
            </a:r>
          </a:p>
          <a:p>
            <a:pPr lvl="0"/>
            <a:r>
              <a:rPr/>
              <a:t>Shared split across experiments:</a:t>
            </a:r>
          </a:p>
          <a:p>
            <a:pPr lvl="1"/>
            <a:r>
              <a:rPr/>
              <a:t>64% train, 16% validation, 20% test;</a:t>
            </a:r>
          </a:p>
          <a:p>
            <a:pPr lvl="1"/>
            <a:r>
              <a:rPr/>
              <a:t>stratified split, random seed 42.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Baseline method:</a:t>
            </a:r>
          </a:p>
          <a:p>
            <a:pPr lvl="1"/>
            <a:r>
              <a:rPr/>
              <a:t>extract handcrafted timbre, harmony, rhythm, and combined features;</a:t>
            </a:r>
          </a:p>
          <a:p>
            <a:pPr lvl="1"/>
            <a:r>
              <a:rPr/>
              <a:t>train Random Forest and MLP classifiers;</a:t>
            </a:r>
          </a:p>
          <a:p>
            <a:pPr lvl="1"/>
            <a:r>
              <a:rPr/>
              <a:t>select models using validation F1-macro.</a:t>
            </a:r>
          </a:p>
          <a:p>
            <a:pPr lvl="0"/>
            <a:r>
              <a:rPr/>
              <a:t>From-scratch deep pipeline:</a:t>
            </a:r>
          </a:p>
          <a:p>
            <a:pPr lvl="1"/>
            <a:r>
              <a:rPr/>
              <a:t>convert audio to cached 128-bin mel spectrograms;</a:t>
            </a:r>
          </a:p>
          <a:p>
            <a:pPr lvl="1"/>
            <a:r>
              <a:rPr/>
              <a:t>compare Plain CNN, regularized CNN, ResNet-style CNN, Multi-shape CNN;</a:t>
            </a:r>
          </a:p>
          <a:p>
            <a:pPr lvl="1"/>
            <a:r>
              <a:rPr/>
              <a:t>add augmentation and segment-level aggregation.</a:t>
            </a:r>
          </a:p>
          <a:p>
            <a:pPr lvl="0"/>
            <a:r>
              <a:rPr/>
              <a:t>Selected state-of-the-art method:</a:t>
            </a:r>
          </a:p>
          <a:p>
            <a:pPr lvl="1"/>
            <a:r>
              <a:rPr/>
              <a:t>AudioSet-pretrained AST embeddings plus MLP classifier;</a:t>
            </a:r>
          </a:p>
          <a:p>
            <a:pPr lvl="1"/>
            <a:r>
              <a:rPr/>
              <a:t>segment averaging over 10-second crops.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Baseline: Handcrafted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Feature extraction:</a:t>
            </a:r>
          </a:p>
          <a:p>
            <a:pPr lvl="1"/>
            <a:r>
              <a:rPr/>
              <a:t>timbre: MFCC-related descriptors;</a:t>
            </a:r>
          </a:p>
          <a:p>
            <a:pPr lvl="1"/>
            <a:r>
              <a:rPr/>
              <a:t>harmony: chroma-based descriptors;</a:t>
            </a:r>
          </a:p>
          <a:p>
            <a:pPr lvl="1"/>
            <a:r>
              <a:rPr/>
              <a:t>rhythm: tempo/tempogram-related descriptors;</a:t>
            </a:r>
          </a:p>
          <a:p>
            <a:pPr lvl="1"/>
            <a:r>
              <a:rPr/>
              <a:t>combined feature vector for the final baseline comparison.</a:t>
            </a:r>
          </a:p>
          <a:p>
            <a:pPr lvl="0"/>
            <a:r>
              <a:rPr/>
              <a:t>Models:</a:t>
            </a:r>
          </a:p>
          <a:p>
            <a:pPr lvl="1"/>
            <a:r>
              <a:rPr/>
              <a:t>Random Forest on each feature group;</a:t>
            </a:r>
          </a:p>
          <a:p>
            <a:pPr lvl="1"/>
            <a:r>
              <a:rPr/>
              <a:t>MLP on the best handcrafted feature set.</a:t>
            </a:r>
          </a:p>
          <a:p>
            <a:pPr lvl="0"/>
            <a:r>
              <a:rPr/>
              <a:t>Best handcrafted baseline:</a:t>
            </a:r>
          </a:p>
          <a:p>
            <a:pPr lvl="1"/>
            <a:r>
              <a:rPr/>
              <a:t>MLP - Combined;</a:t>
            </a:r>
          </a:p>
          <a:p>
            <a:pPr lvl="1"/>
            <a:r>
              <a:rPr/>
              <a:t>test accuracy 0.529, test F1-macro 0.522.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From-Scratch CNN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Input: cached mel spectrograms, shape-normalized for CNN training.</a:t>
            </a:r>
          </a:p>
          <a:p>
            <a:pPr lvl="0"/>
            <a:r>
              <a:rPr/>
              <a:t>Architecture search:</a:t>
            </a:r>
          </a:p>
          <a:p>
            <a:pPr lvl="1"/>
            <a:r>
              <a:rPr/>
              <a:t>Plain CNN tests a simple local time-frequency learner;</a:t>
            </a:r>
          </a:p>
          <a:p>
            <a:pPr lvl="1"/>
            <a:r>
              <a:rPr/>
              <a:t>regularization adds batch normalization, dropout, weight decay, and label smoothing;</a:t>
            </a:r>
          </a:p>
          <a:p>
            <a:pPr lvl="1"/>
            <a:r>
              <a:rPr/>
              <a:t>ResNet-style CNN tests residual connections;</a:t>
            </a:r>
          </a:p>
          <a:p>
            <a:pPr lvl="1"/>
            <a:r>
              <a:rPr/>
              <a:t>Multi-shape CNN uses filter shapes for local patterns, broad frequency bands, and longer temporal context.</a:t>
            </a:r>
          </a:p>
          <a:p>
            <a:pPr lvl="0"/>
            <a:r>
              <a:rPr/>
              <a:t>Model selection criterion:</a:t>
            </a:r>
          </a:p>
          <a:p>
            <a:pPr lvl="1"/>
            <a:r>
              <a:rPr/>
              <a:t>validation F1-macro selects the best epoch and model.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CNN Optimization 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900"/>
                <a:gridCol w="2997200"/>
                <a:gridCol w="2997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Selected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Test F1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Handcrafted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MLP - Combined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Plain CNN regularized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Plain CNN - Regularisation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Music-aware CNN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Multi-shape CNN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Augmentation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Multi-shape CNN - Mixup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0.584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 aggregation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Multi-shape CNN - Mixup - Segment Averaging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0.641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 transformer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Multi-shape CNN - Mixup - Segment Transformer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0.629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Largest gain in the custom pipeline comes from segment-level training and probability averaging.</a:t>
            </a:r>
          </a:p>
          <a:p>
            <a:pPr lvl="0"/>
            <a:r>
              <a:rPr/>
              <a:t>The Transformer aggregator did not outperform simple averaging in this dataset.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Hybrid Late 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Fusion inputs:</a:t>
            </a:r>
          </a:p>
          <a:p>
            <a:pPr lvl="1"/>
            <a:r>
              <a:rPr/>
              <a:t>best CNN branch: Multi-shape CNN - Mixup - Segment Averaging;</a:t>
            </a:r>
          </a:p>
          <a:p>
            <a:pPr lvl="1"/>
            <a:r>
              <a:rPr/>
              <a:t>best handcrafted branch: MLP - Combined.</a:t>
            </a:r>
          </a:p>
          <a:p>
            <a:pPr lvl="0"/>
            <a:r>
              <a:rPr/>
              <a:t>Validation search over CNN/handcrafted probability weights.</a:t>
            </a:r>
          </a:p>
          <a:p>
            <a:pPr lvl="0"/>
            <a:r>
              <a:rPr/>
              <a:t>Selected weight:</a:t>
            </a:r>
          </a:p>
          <a:p>
            <a:pPr lvl="1"/>
            <a:r>
              <a:rPr/>
              <a:t>CNN weight = 1.0;</a:t>
            </a:r>
          </a:p>
          <a:p>
            <a:pPr lvl="1"/>
            <a:r>
              <a:rPr/>
              <a:t>handcrafted weight = 0.0.</a:t>
            </a:r>
          </a:p>
          <a:p>
            <a:pPr lvl="0"/>
            <a:r>
              <a:rPr/>
              <a:t>Interpretation:</a:t>
            </a:r>
          </a:p>
          <a:p>
            <a:pPr lvl="1"/>
            <a:r>
              <a:rPr/>
              <a:t>handcrafted features were useful as a baseline;</a:t>
            </a:r>
          </a:p>
          <a:p>
            <a:pPr lvl="1"/>
            <a:r>
              <a:rPr/>
              <a:t>once segment-level CNN predictions were available, late fusion did not add validation benefit.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State-of-the-Art Method: AST 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Selected method: Audio Spectrogram Transformer pretrained on AudioSet.</a:t>
            </a:r>
          </a:p>
          <a:p>
            <a:pPr lvl="0"/>
            <a:r>
              <a:rPr/>
              <a:t>Why AST:</a:t>
            </a:r>
          </a:p>
          <a:p>
            <a:pPr lvl="1"/>
            <a:r>
              <a:rPr/>
              <a:t>it is trained on large-scale audio data rather than only FMA-small;</a:t>
            </a:r>
          </a:p>
          <a:p>
            <a:pPr lvl="1"/>
            <a:r>
              <a:rPr/>
              <a:t>Transformer attention models longer-range time-frequency relationships;</a:t>
            </a:r>
          </a:p>
          <a:p>
            <a:pPr lvl="1"/>
            <a:r>
              <a:rPr/>
              <a:t>frozen embedding extraction is computationally lighter than full fine-tuning.</a:t>
            </a:r>
          </a:p>
          <a:p>
            <a:pPr lvl="0"/>
            <a:r>
              <a:rPr/>
              <a:t>Implementation:</a:t>
            </a:r>
          </a:p>
          <a:p>
            <a:pPr lvl="1"/>
            <a:r>
              <a:rPr/>
              <a:t>extract full-track and segment embeddings from 10-second audio crops;</a:t>
            </a:r>
          </a:p>
          <a:p>
            <a:pPr lvl="1"/>
            <a:r>
              <a:rPr/>
              <a:t>train compact MLP classifiers;</a:t>
            </a:r>
          </a:p>
          <a:p>
            <a:pPr lvl="1"/>
            <a:r>
              <a:rPr/>
              <a:t>average segment probabilities at track level.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Common protocol:</a:t>
            </a:r>
          </a:p>
          <a:p>
            <a:pPr lvl="1"/>
            <a:r>
              <a:rPr/>
              <a:t>same stratified split for every experiment;</a:t>
            </a:r>
          </a:p>
          <a:p>
            <a:pPr lvl="1"/>
            <a:r>
              <a:rPr/>
              <a:t>validation F1-macro used for model selection;</a:t>
            </a:r>
          </a:p>
          <a:p>
            <a:pPr lvl="1"/>
            <a:r>
              <a:rPr/>
              <a:t>final numbers reported only on held-out test set.</a:t>
            </a:r>
          </a:p>
          <a:p>
            <a:pPr lvl="0"/>
            <a:r>
              <a:rPr/>
              <a:t>Metrics:</a:t>
            </a:r>
          </a:p>
          <a:p>
            <a:pPr lvl="1"/>
            <a:r>
              <a:rPr/>
              <a:t>accuracy for overall correctness;</a:t>
            </a:r>
          </a:p>
          <a:p>
            <a:pPr lvl="1"/>
            <a:r>
              <a:rPr/>
              <a:t>F1-macro to treat all 8 genres equally;</a:t>
            </a:r>
          </a:p>
          <a:p>
            <a:pPr lvl="1"/>
            <a:r>
              <a:rPr/>
              <a:t>confusion matrix and per-class recall for error analysis.</a:t>
            </a:r>
          </a:p>
          <a:p>
            <a:pPr lvl="0"/>
            <a:r>
              <a:rPr/>
              <a:t>Reproducibility:</a:t>
            </a:r>
          </a:p>
          <a:p>
            <a:pPr lvl="1"/>
            <a:r>
              <a:rPr/>
              <a:t>features and embeddings cached under </a:t>
            </a:r>
            <a:r>
              <a:rPr>
                <a:latin typeface="Courier"/>
              </a:rPr>
              <a:t>features/</a:t>
            </a:r>
            <a:r>
              <a:rPr/>
              <a:t>;</a:t>
            </a:r>
          </a:p>
          <a:p>
            <a:pPr lvl="1"/>
            <a:r>
              <a:rPr/>
              <a:t>outputs saved as </a:t>
            </a:r>
            <a:r>
              <a:rPr>
                <a:latin typeface="Courier"/>
              </a:rPr>
              <a:t>metrics.csv</a:t>
            </a:r>
            <a:r>
              <a:rPr/>
              <a:t>, </a:t>
            </a:r>
            <a:r>
              <a:rPr>
                <a:latin typeface="Courier"/>
              </a:rPr>
              <a:t>predictions.csv</a:t>
            </a:r>
            <a:r>
              <a:rPr/>
              <a:t>, reports, and plots under </a:t>
            </a:r>
            <a:r>
              <a:rPr>
                <a:latin typeface="Courier"/>
              </a:rPr>
              <a:t>results/</a:t>
            </a:r>
            <a:r>
              <a:rPr/>
              <a:t>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Overall Results</a:t>
            </a:r>
          </a:p>
        </p:txBody>
      </p:sp>
      <p:pic>
        <p:nvPicPr>
          <p:cNvPr descr="results/model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76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Numerical Comparison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Test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Test F1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Handcrafted baseline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MLP - Combined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From-scratch CNN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Multi-shape CNN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Augmented CNN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Multi-shape CNN - Mixup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0.584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 CNN / 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Segment Averaging / Hybrid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0.641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ImageNet transfer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ResNet18 layer4 + segments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Audio transfer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PANNs-CNN14 + segments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0.638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Selected SOTA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AST embeddings + segment averaging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0.687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AST segment averaging gives the best overall result.</a:t>
            </a:r>
          </a:p>
          <a:p>
            <a:pPr lvl="0"/>
            <a:r>
              <a:rPr/>
              <a:t>Improvement over the handcrafted baseline: +0.165 F1.</a:t>
            </a:r>
          </a:p>
          <a:p>
            <a:pPr lvl="0"/>
            <a:r>
              <a:rPr/>
              <a:t>Improvement over the best custom CNN/hybrid pipeline: +0.045 F1.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 Analysis: Custom Pipeline Recall</a:t>
            </a:r>
          </a:p>
        </p:txBody>
      </p:sp>
      <p:pic>
        <p:nvPicPr>
          <p:cNvPr descr="results/4%20Error%20analysis/per_class_reca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93800"/>
            <a:ext cx="610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Best custom pipeline accuracy: 0.648.</a:t>
            </a:r>
          </a:p>
          <a:p>
            <a:pPr lvl="0"/>
            <a:r>
              <a:rPr/>
              <a:t>Weakest recall classes:</a:t>
            </a:r>
          </a:p>
          <a:p>
            <a:pPr lvl="1"/>
            <a:r>
              <a:rPr/>
              <a:t>Pop: 0.365;</a:t>
            </a:r>
          </a:p>
          <a:p>
            <a:pPr lvl="1"/>
            <a:r>
              <a:rPr/>
              <a:t>Experimental: 0.495;</a:t>
            </a:r>
          </a:p>
          <a:p>
            <a:pPr lvl="1"/>
            <a:r>
              <a:rPr/>
              <a:t>Rock: 0.635.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 Analysis: Custom Pipeline Confusions</a:t>
            </a:r>
          </a:p>
        </p:txBody>
      </p:sp>
      <p:pic>
        <p:nvPicPr>
          <p:cNvPr descr="results/4%20Error%20analysis/confusion_matri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Most common confusions:</a:t>
            </a:r>
          </a:p>
          <a:p>
            <a:pPr lvl="1"/>
            <a:r>
              <a:rPr/>
              <a:t>Pop to Rock;</a:t>
            </a:r>
          </a:p>
          <a:p>
            <a:pPr lvl="1"/>
            <a:r>
              <a:rPr/>
              <a:t>Experimental to Instrumental;</a:t>
            </a:r>
          </a:p>
          <a:p>
            <a:pPr lvl="1"/>
            <a:r>
              <a:rPr/>
              <a:t>Hip-Hop to Electronic.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 Analysis: AST Recall</a:t>
            </a:r>
          </a:p>
        </p:txBody>
      </p:sp>
      <p:pic>
        <p:nvPicPr>
          <p:cNvPr descr="results/5.5%20Error%20Analysis/per_class_reca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93800"/>
            <a:ext cx="610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AST test accuracy: 0.688; test F1-macro: 0.687.</a:t>
            </a:r>
          </a:p>
          <a:p>
            <a:pPr lvl="0"/>
            <a:r>
              <a:rPr/>
              <a:t>Weakest recall classes remain:</a:t>
            </a:r>
          </a:p>
          <a:p>
            <a:pPr lvl="1"/>
            <a:r>
              <a:rPr/>
              <a:t>Pop: 0.460;</a:t>
            </a:r>
          </a:p>
          <a:p>
            <a:pPr lvl="1"/>
            <a:r>
              <a:rPr/>
              <a:t>Experimental: 0.575;</a:t>
            </a:r>
          </a:p>
          <a:p>
            <a:pPr lvl="1"/>
            <a:r>
              <a:rPr/>
              <a:t>Rock: 0.670.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 Analysis: AST Confusions</a:t>
            </a:r>
          </a:p>
        </p:txBody>
      </p:sp>
      <p:pic>
        <p:nvPicPr>
          <p:cNvPr descr="results/5.5%20Error%20Analysis/confusion_matri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AST improves most weak classes, but does not remove genre ambiguity.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Critical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What worked:</a:t>
            </a:r>
          </a:p>
          <a:p>
            <a:pPr lvl="1"/>
            <a:r>
              <a:rPr/>
              <a:t>mel-spectrogram CNNs clearly outperform handcrafted-only features;</a:t>
            </a:r>
          </a:p>
          <a:p>
            <a:pPr lvl="1"/>
            <a:r>
              <a:rPr/>
              <a:t>segment averaging improves track-level robustness;</a:t>
            </a:r>
          </a:p>
          <a:p>
            <a:pPr lvl="1"/>
            <a:r>
              <a:rPr/>
              <a:t>AudioSet-pretrained AST provides the strongest representation.</a:t>
            </a:r>
          </a:p>
          <a:p>
            <a:pPr lvl="0"/>
            <a:r>
              <a:rPr/>
              <a:t>What did not work as expected:</a:t>
            </a:r>
          </a:p>
          <a:p>
            <a:pPr lvl="1"/>
            <a:r>
              <a:rPr/>
              <a:t>late fusion selected handcrafted weight 0.0, so handcrafted probabilities did not complement the best CNN;</a:t>
            </a:r>
          </a:p>
          <a:p>
            <a:pPr lvl="1"/>
            <a:r>
              <a:rPr/>
              <a:t>the lightweight segment Transformer underperformed simple probability averaging.</a:t>
            </a:r>
          </a:p>
          <a:p>
            <a:pPr lvl="0"/>
            <a:r>
              <a:rPr/>
              <a:t>Likely reasons:</a:t>
            </a:r>
          </a:p>
          <a:p>
            <a:pPr lvl="1"/>
            <a:r>
              <a:rPr/>
              <a:t>FMA-small labels can be broad and subjective;</a:t>
            </a:r>
          </a:p>
          <a:p>
            <a:pPr lvl="1"/>
            <a:r>
              <a:rPr/>
              <a:t>Pop, Rock, and Experimental overlap strongly with other acoustic styles;</a:t>
            </a:r>
          </a:p>
          <a:p>
            <a:pPr lvl="1"/>
            <a:r>
              <a:rPr/>
              <a:t>pretrained audio representations transfer better than image-pretrained spectrogram models.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project builds a full, reproducible music genre classification pipeline.</a:t>
            </a:r>
          </a:p>
          <a:p>
            <a:pPr lvl="0"/>
            <a:r>
              <a:rPr/>
              <a:t>Baseline MLP on handcrafted features reaches 0.522 test F1-macro.</a:t>
            </a:r>
          </a:p>
          <a:p>
            <a:pPr lvl="0"/>
            <a:r>
              <a:rPr/>
              <a:t>The best custom pipeline, Multi-shape CNN with Mixup and segment averaging, reaches 0.641 test F1-macro.</a:t>
            </a:r>
          </a:p>
          <a:p>
            <a:pPr lvl="0"/>
            <a:r>
              <a:rPr/>
              <a:t>The selected state-of-the-art AST segment-averaging model reaches 0.687 test F1-macro.</a:t>
            </a:r>
          </a:p>
          <a:p>
            <a:pPr lvl="0"/>
            <a:r>
              <a:rPr/>
              <a:t>Main takeaway:</a:t>
            </a:r>
          </a:p>
          <a:p>
            <a:pPr lvl="1"/>
            <a:r>
              <a:rPr/>
              <a:t>domain-specific audio pretraining plus segment-level aggregation is the most effective strategy for this task.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Genre Classification on FMA-small</dc:title>
  <dc:creator>Selected Topics in Music and Acoustic Engineering</dc:creator>
  <cp:keywords/>
  <dcterms:created xsi:type="dcterms:W3CDTF">2026-06-28T14:25:20Z</dcterms:created>
  <dcterms:modified xsi:type="dcterms:W3CDTF">2026-06-28T14:25:20Z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  <property fmtid="{D5CDD505-2E9C-101B-9397-08002B2CF9AE}" pid="3" name="subtitle">
    <vt:lpwstr>Handcrafted features, mel-spectrogram CNNs, hybrid fusion, and audio-pretrained transfer learning</vt:lpwstr>
  </property>
</Properties>
</file>